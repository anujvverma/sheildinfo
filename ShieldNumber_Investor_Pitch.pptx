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(Rs. Lakhs)</c:v>
                </c:pt>
              </c:strCache>
            </c:strRef>
          </c:tx>
          <c:spPr>
            <a:solidFill>
              <a:srgbClr val="3B4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25</c:v>
                </c:pt>
                <c:pt idx="3">
                  <c:v>55</c:v>
                </c:pt>
                <c:pt idx="4">
                  <c:v>110</c:v>
                </c:pt>
                <c:pt idx="5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411480"/>
            <a:ext cx="914400" cy="9144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411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ShieldNumber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4E8"/>
                </a:solidFill>
              </a:rPr>
              <a:t>Privacy-First Masked Number for India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2999232"/>
            <a:ext cx="2194560" cy="4572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272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EC0"/>
                </a:solidFill>
              </a:rPr>
              <a:t>Your real number. Protected. Always.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Seed Round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Sharing your real number costs you your privacy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Online Shopping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You share your number with Zomato, Amazon, Swiggy — every delivery rider gets it permanently.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554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Real Estate &amp; OLX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9933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 listing and you get spam calls for months with no way to stop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New Acquaintances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Giving your real number to strangers means losing control of who can reach you — forever.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Effective 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685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Blocking numbers doesn't work — spammers use new numbers daily. DND is largely ineffective.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900M+ Indian smartphone users face this daily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masked number.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Unlimited privacy.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EC0"/>
                </a:solidFill>
              </a:rPr>
              <a:t>ShieldNumber gives every Indian a virtual phone number to share publicly. Your real number is never revealed — unknown callers are automatically blocked.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4114800" cy="329184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Unknown callers blocked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38728"/>
            <a:ext cx="4114800" cy="329184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84448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Phonebook contacts connect through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22776"/>
            <a:ext cx="4114800" cy="329184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968496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Temp access for delivery riders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06824"/>
            <a:ext cx="4114800" cy="329184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52544"/>
            <a:ext cx="201168" cy="201168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34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E8"/>
                </a:solidFill>
              </a:rPr>
              <a:t>Full call &amp; SMS activity logs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502920"/>
            <a:ext cx="2743200" cy="4297680"/>
          </a:xfrm>
          <a:prstGeom prst="rect">
            <a:avLst/>
          </a:prstGeom>
          <a:solidFill>
            <a:srgbClr val="1A2E7A"/>
          </a:solidFill>
          <a:ln w="25400">
            <a:solidFill>
              <a:srgbClr val="2A4A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21792"/>
            <a:ext cx="2011680" cy="64008"/>
          </a:xfrm>
          <a:prstGeom prst="rect">
            <a:avLst/>
          </a:prstGeom>
          <a:solidFill>
            <a:srgbClr val="2A4AC0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E8"/>
                </a:solidFill>
              </a:rPr>
              <a:t>+91 95138 86363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90D0"/>
                </a:solidFill>
              </a:rPr>
              <a:t>Your Masked Number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97880" y="1783080"/>
            <a:ext cx="2468880" cy="731520"/>
          </a:xfrm>
          <a:prstGeom prst="rect">
            <a:avLst/>
          </a:prstGeom>
          <a:solidFill>
            <a:srgbClr val="0A3A20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98765 XXXXX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17627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ALLOWED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2697480"/>
            <a:ext cx="2468880" cy="731520"/>
          </a:xfrm>
          <a:prstGeom prst="rect">
            <a:avLst/>
          </a:prstGeom>
          <a:solidFill>
            <a:srgbClr val="3A0A0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99876 XXXXX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09067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0723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BLOCKED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3611880"/>
            <a:ext cx="2468880" cy="731520"/>
          </a:xfrm>
          <a:prstGeom prst="rect">
            <a:avLst/>
          </a:prstGeom>
          <a:solidFill>
            <a:srgbClr val="3A0A0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+91 91234 XXXXX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400507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986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BLOCKED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Simple. Automatic. Invisible.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35608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2002536"/>
            <a:ext cx="64008" cy="512064"/>
          </a:xfrm>
          <a:prstGeom prst="rect">
            <a:avLst/>
          </a:prstGeom>
          <a:solidFill>
            <a:srgbClr val="E8EC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325880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325880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4356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Get Your Masked Number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Sign up and instantly receive a virtual Indian mobile number. Share it publicly — on OLX, Zomato, with strangers — your real number stays hidden.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24328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" y="3191256"/>
            <a:ext cx="64008" cy="512064"/>
          </a:xfrm>
          <a:prstGeom prst="rect">
            <a:avLst/>
          </a:prstGeom>
          <a:solidFill>
            <a:srgbClr val="E8E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2514600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2514600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6243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Someone Calls Your Masked Number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175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a call arrives, ShieldNumber checks in real-time whether the caller exists in your personal phonebook whitelist.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13048"/>
            <a:ext cx="566928" cy="566928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3703320"/>
            <a:ext cx="7589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43000" y="3703320"/>
            <a:ext cx="64008" cy="105156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8130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Smart Allow or Block — Instantly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206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Phonebook contacts connect directly to your real phone. Unknown callers hear 'not reachable' and are blocked. You see all activity in the app.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India is the world's largest untapped privacy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463040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27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Smartphone users in India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World's 2nd largest 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17320"/>
            <a:ext cx="64008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5270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₹4,200Cr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73168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Estimated TAM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Privacy &amp; security apps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729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Indians receive spam 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TRAI 2024 report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0632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063240"/>
            <a:ext cx="64008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1729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₹199/mo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773168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Target price point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Affordable nationwide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WORKING POC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Live. Tested. Production-ready.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2704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4630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Call blocking — unknown callers blocked in real-time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42316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3591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Call forwarding — phonebook contacts connected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2552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Backend live on Railway cloud hosting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21538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41513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 live on Supabase (PostgreSQL)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325880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52704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6088" y="14630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Exotel API integration — webhook routing working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221992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2316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23591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Flutter mobile app — 5 screens built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118104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31927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76088" y="32552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 REST API endpoints operational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14216"/>
            <a:ext cx="4114800" cy="749808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4215384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76088" y="41513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SMS forwarding — pending DLT KYC (in progress)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Recurring subscription — low churn, high LTV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633472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masked number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Basic call blocking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84448"/>
            <a:ext cx="164592" cy="16459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7-day 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87168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Basic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87168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8716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78608" y="2633472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masked number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8608" y="3108960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call blocking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78608" y="3584448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30-day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78608" y="4059936"/>
            <a:ext cx="164592" cy="16459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40142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SMS forwarding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62856" y="1325880"/>
            <a:ext cx="2011680" cy="3611880"/>
          </a:xfrm>
          <a:prstGeom prst="rect">
            <a:avLst/>
          </a:prstGeom>
          <a:solidFill>
            <a:srgbClr val="3B4FD8"/>
          </a:solidFill>
          <a:ln w="25400">
            <a:solidFill>
              <a:srgbClr val="3B4F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2856" y="1325880"/>
            <a:ext cx="2011680" cy="347472"/>
          </a:xfrm>
          <a:prstGeom prst="rect">
            <a:avLst/>
          </a:prstGeom>
          <a:solidFill>
            <a:srgbClr val="2A1D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6285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POPULAR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54296" y="1719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54296" y="2103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₹199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54296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/month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45736" y="2980944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29352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2 masked numbers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45736" y="3456432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3410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90-day logs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45736" y="3931920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7" name="Text 35"/>
          <p:cNvSpPr/>
          <p:nvPr/>
        </p:nvSpPr>
        <p:spPr>
          <a:xfrm>
            <a:off x="5001768" y="3886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Temp whitelist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45736" y="4407408"/>
            <a:ext cx="164592" cy="164592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39" name="Text 37"/>
          <p:cNvSpPr/>
          <p:nvPr/>
        </p:nvSpPr>
        <p:spPr>
          <a:xfrm>
            <a:off x="5001768" y="4361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CFF"/>
                </a:solidFill>
              </a:rPr>
              <a:t>Priority support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9984" y="132588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21424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Family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21424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₹399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82142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12864" y="2633472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5" name="Text 43"/>
          <p:cNvSpPr/>
          <p:nvPr/>
        </p:nvSpPr>
        <p:spPr>
          <a:xfrm>
            <a:off x="7168896" y="2587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masked numbers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12864" y="3108960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7" name="Text 45"/>
          <p:cNvSpPr/>
          <p:nvPr/>
        </p:nvSpPr>
        <p:spPr>
          <a:xfrm>
            <a:off x="7168896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Family dashboard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3584448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9" name="Text 47"/>
          <p:cNvSpPr/>
          <p:nvPr/>
        </p:nvSpPr>
        <p:spPr>
          <a:xfrm>
            <a:off x="7168896" y="3538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history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4059936"/>
            <a:ext cx="164592" cy="164592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51" name="Text 49"/>
          <p:cNvSpPr/>
          <p:nvPr/>
        </p:nvSpPr>
        <p:spPr>
          <a:xfrm>
            <a:off x="7168896" y="40142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Pro features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Phase-by-phase growth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33472" cy="566928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0FF"/>
                </a:solidFill>
              </a:rPr>
              <a:t>0 – 6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Direct to Consumer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487168"/>
            <a:ext cx="146304" cy="146304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441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Launch on Play Store &amp; App Store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3017520"/>
            <a:ext cx="146304" cy="146304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urban professionals 22-35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547872"/>
            <a:ext cx="146304" cy="146304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502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Social media privacy campaigns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4078224"/>
            <a:ext cx="146304" cy="146304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032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Referral: 1 month free per invite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32588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25880"/>
            <a:ext cx="2633472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0FF"/>
                </a:solidFill>
              </a:rPr>
              <a:t>6 – 18 months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B2B &amp; Partnerships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64992" y="248716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602736" y="2441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 with e-commerce platforms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01752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Delivery company integrations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354787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602736" y="3502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Corporate plans for sales teams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407822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602736" y="4032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WhatsApp Business 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325880"/>
            <a:ext cx="26334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325880"/>
            <a:ext cx="2633472" cy="566928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0FF"/>
                </a:solidFill>
              </a:rPr>
              <a:t>18 – 36 months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476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Scale &amp; Expand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99632" y="2487168"/>
            <a:ext cx="146304" cy="146304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2441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Expand: Bangladesh, Nepal, Sri Lanka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3017520"/>
            <a:ext cx="146304" cy="146304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 for developers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3547872"/>
            <a:ext cx="146304" cy="146304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0" name="Text 38"/>
          <p:cNvSpPr/>
          <p:nvPr/>
        </p:nvSpPr>
        <p:spPr>
          <a:xfrm>
            <a:off x="6437376" y="3502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White-label for enterprises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4078224"/>
            <a:ext cx="146304" cy="146304"/>
          </a:xfrm>
          <a:prstGeom prst="ellipse">
            <a:avLst/>
          </a:prstGeom>
          <a:solidFill>
            <a:srgbClr val="0D1B5E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4032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spam detection feature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Built on proven, scalable infrastructure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633472" cy="64008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6" name="Shape 4"/>
          <p:cNvSpPr/>
          <p:nvPr/>
        </p:nvSpPr>
        <p:spPr>
          <a:xfrm>
            <a:off x="448056" y="1490472"/>
            <a:ext cx="347472" cy="347472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508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Mobile (Flutter)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" y="1947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iOS + Android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Material Design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Single codebase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Offline-ready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32588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325880"/>
            <a:ext cx="263347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82696" y="1490472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282696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1608" y="1508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Backend (Node.js)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2696" y="1947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Express REST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8 endpoints live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82696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Webhook routing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82696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Rate limiting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32588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325880"/>
            <a:ext cx="263347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7336" y="14904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117336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56248" y="1508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Database (Supabase)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17336" y="1947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PostgreSQL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17336" y="2194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Row-level security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17336" y="2441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Auto backups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7336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Realtime ready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08960"/>
            <a:ext cx="2633472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" y="3273552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Telecom (Exotel)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8056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Indian VoIP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Webhook-based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ExoML call control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8056" y="44714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SMS forwarding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10896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3108960"/>
            <a:ext cx="263347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3282696" y="3273552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3282696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2160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Payments (Razorpay)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82696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Subscription billing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82696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UPI + Cards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82696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Auto-renewal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82696" y="44714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Webhook events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3108960"/>
            <a:ext cx="26334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108960"/>
            <a:ext cx="263347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Shape 49"/>
          <p:cNvSpPr/>
          <p:nvPr/>
        </p:nvSpPr>
        <p:spPr>
          <a:xfrm>
            <a:off x="6117336" y="3273552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6117336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5624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Infra (Railway)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17336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Cloud hosting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17336" y="3977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Auto-deploy CI/CD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17336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99.9% uptime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117336" y="44714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GitHub connected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First-mover advantage in India's privacy space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246888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16352" y="1353312"/>
            <a:ext cx="1417320" cy="438912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5"/>
          <p:cNvSpPr/>
          <p:nvPr/>
        </p:nvSpPr>
        <p:spPr>
          <a:xfrm>
            <a:off x="2862072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Truecaller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87568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11" name="Text 9"/>
          <p:cNvSpPr/>
          <p:nvPr/>
        </p:nvSpPr>
        <p:spPr>
          <a:xfrm>
            <a:off x="5733288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DND Apps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23176" y="1353312"/>
            <a:ext cx="1417320" cy="438912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13" name="Text 11"/>
          <p:cNvSpPr/>
          <p:nvPr/>
        </p:nvSpPr>
        <p:spPr>
          <a:xfrm>
            <a:off x="7168896" y="13716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2nd SIM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93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Blocks unknown callers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16352" y="1883664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19842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198424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5687568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98424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7123176" y="1883664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3528" y="19842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286000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3172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 number stays private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16352" y="2286000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46704" y="238658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82312" y="23865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7568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3865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7123176" y="2286000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53528" y="238658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2688336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73405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Works on existing phone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16352" y="2688336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46704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2312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5687568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7889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7123176" y="2688336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3528" y="278892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3090672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3639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Phonebook-based allow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16352" y="3090672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46704" y="319125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Shape 46"/>
          <p:cNvSpPr/>
          <p:nvPr/>
        </p:nvSpPr>
        <p:spPr>
          <a:xfrm>
            <a:off x="4251960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82312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Shape 48"/>
          <p:cNvSpPr/>
          <p:nvPr/>
        </p:nvSpPr>
        <p:spPr>
          <a:xfrm>
            <a:off x="5687568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7123176" y="3090672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53528" y="31912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3493008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53872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Temp access feature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16352" y="3493008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46704" y="35935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Shape 56"/>
          <p:cNvSpPr/>
          <p:nvPr/>
        </p:nvSpPr>
        <p:spPr>
          <a:xfrm>
            <a:off x="4251960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82312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Shape 58"/>
          <p:cNvSpPr/>
          <p:nvPr/>
        </p:nvSpPr>
        <p:spPr>
          <a:xfrm>
            <a:off x="5687568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Shape 60"/>
          <p:cNvSpPr/>
          <p:nvPr/>
        </p:nvSpPr>
        <p:spPr>
          <a:xfrm>
            <a:off x="7123176" y="3493008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53528" y="35935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Shape 62"/>
          <p:cNvSpPr/>
          <p:nvPr/>
        </p:nvSpPr>
        <p:spPr>
          <a:xfrm>
            <a:off x="274320" y="3895344"/>
            <a:ext cx="246888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9410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India pricing (Rs.)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16352" y="3895344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46704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Shape 66"/>
          <p:cNvSpPr/>
          <p:nvPr/>
        </p:nvSpPr>
        <p:spPr>
          <a:xfrm>
            <a:off x="4251960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82312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Shape 68"/>
          <p:cNvSpPr/>
          <p:nvPr/>
        </p:nvSpPr>
        <p:spPr>
          <a:xfrm>
            <a:off x="5687568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399592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Shape 70"/>
          <p:cNvSpPr/>
          <p:nvPr/>
        </p:nvSpPr>
        <p:spPr>
          <a:xfrm>
            <a:off x="7123176" y="3895344"/>
            <a:ext cx="1417320" cy="39319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53528" y="39959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4" name="Shape 72"/>
          <p:cNvSpPr/>
          <p:nvPr/>
        </p:nvSpPr>
        <p:spPr>
          <a:xfrm>
            <a:off x="274320" y="4297680"/>
            <a:ext cx="24688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3434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hardware needed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816352" y="4297680"/>
            <a:ext cx="1417320" cy="3931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46704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8" name="Shape 76"/>
          <p:cNvSpPr/>
          <p:nvPr/>
        </p:nvSpPr>
        <p:spPr>
          <a:xfrm>
            <a:off x="4251960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82312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0" name="Shape 78"/>
          <p:cNvSpPr/>
          <p:nvPr/>
        </p:nvSpPr>
        <p:spPr>
          <a:xfrm>
            <a:off x="5687568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17920" y="439826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2" name="Shape 80"/>
          <p:cNvSpPr/>
          <p:nvPr/>
        </p:nvSpPr>
        <p:spPr>
          <a:xfrm>
            <a:off x="7123176" y="4297680"/>
            <a:ext cx="1417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53528" y="439826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Shape 8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85" name="Text 8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Green = YES  |  Red = NO  |  Orange = Partial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4FD8"/>
                </a:solidFill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Path to Rs.10 Crore ARR in 36 months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207008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1207008"/>
            <a:ext cx="64008" cy="804672"/>
          </a:xfrm>
          <a:prstGeom prst="rect">
            <a:avLst/>
          </a:prstGeom>
          <a:solidFill>
            <a:srgbClr val="3B4FD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252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17099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1 Users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210312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0760" y="210312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148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75,000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2606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2 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299923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2999232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3044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Rs.10Cr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63640" y="3502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 3 ARR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389534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3895344"/>
            <a:ext cx="64008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941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Rs.180/mo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63640" y="43982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ARPU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22" name="Text 19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</a:rPr>
              <a:t>Assumptions: Rs.149 avg ARPU  |  3% monthly growth  |  15% annual churn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E8"/>
                </a:solidFill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 — Rs.2 Crore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69080" cy="150876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627632"/>
            <a:ext cx="457200" cy="457200"/>
          </a:xfrm>
          <a:prstGeom prst="ellipse">
            <a:avLst/>
          </a:prstGeom>
          <a:solidFill>
            <a:srgbClr val="00C4E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4E8"/>
                </a:solidFill>
              </a:rPr>
              <a:t>Rs.70 Lakhs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&amp;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Full-time dev team, app store launch, security audit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069080" cy="150876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627632"/>
            <a:ext cx="457200" cy="4572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8968" y="162763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4FD8"/>
                </a:solidFill>
              </a:rPr>
              <a:t>Rs.60 Lakhs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Marketing &amp; 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Digital ads, influencer campaigns, App Store ASO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4069080" cy="150876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3832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8328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Rs.40 Lakhs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Operations &amp; 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Exotel numbers, DLT registration, TRAI compliance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18688"/>
            <a:ext cx="4069080" cy="1508760"/>
          </a:xfrm>
          <a:prstGeom prst="rect">
            <a:avLst/>
          </a:prstGeom>
          <a:solidFill>
            <a:srgbClr val="1A2E7A"/>
          </a:solidFill>
          <a:ln w="12700">
            <a:solidFill>
              <a:srgbClr val="2A3E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3383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8968" y="3383280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Rs.30 Lakhs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7375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Working Capital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270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90D0"/>
                </a:solidFill>
              </a:rPr>
              <a:t>Infrastructure, legal, team expansion buffer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411480"/>
            <a:ext cx="914400" cy="914400"/>
          </a:xfrm>
          <a:prstGeom prst="ellipse">
            <a:avLst/>
          </a:prstGeom>
          <a:solidFill>
            <a:srgbClr val="3B4F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411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Indian deserves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private number.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2724912"/>
            <a:ext cx="2743200" cy="45720"/>
          </a:xfrm>
          <a:prstGeom prst="rect">
            <a:avLst/>
          </a:prstGeom>
          <a:solidFill>
            <a:srgbClr val="00C4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529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4E8"/>
                </a:solidFill>
              </a:rPr>
              <a:t>Let's build it together.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Anuj Verma  |  averma@payremit.com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ShieldNumber  |  sheildinfo-production.up.railway.app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ShieldNumber — Investor Pitch</dc:title>
  <dc:subject>PptxGenJS Presentation</dc:subject>
  <dc:creator>PptxGenJS</dc:creator>
  <cp:lastModifiedBy>PptxGenJS</cp:lastModifiedBy>
  <cp:revision>1</cp:revision>
  <dcterms:created xsi:type="dcterms:W3CDTF">2026-05-17T08:10:41Z</dcterms:created>
  <dcterms:modified xsi:type="dcterms:W3CDTF">2026-05-17T08:10:41Z</dcterms:modified>
</cp:coreProperties>
</file>