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(Rs. Lakhs)</c:v>
                </c:pt>
              </c:strCache>
            </c:strRef>
          </c:tx>
          <c:spPr>
            <a:solidFill>
              <a:srgbClr val="3B4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  <c:pt idx="4">
                    <c:v>M30</c:v>
                  </c:pt>
                  <c:pt idx="5">
                    <c:v>M36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25</c:v>
                </c:pt>
                <c:pt idx="3">
                  <c:v>55</c:v>
                </c:pt>
                <c:pt idx="4">
                  <c:v>110</c:v>
                </c:pt>
                <c:pt idx="5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365760"/>
            <a:ext cx="914400" cy="914400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ShieldInfo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4E8"/>
                </a:solidFill>
              </a:rPr>
              <a:t>Privacy-First Masked Number for India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834640"/>
            <a:ext cx="2194560" cy="4572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Founded by Nikisha Verma, Age 12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</a:rPr>
              <a:t>"I wanted to protect my mom's number. So I built ShieldInfo."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Seed Round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THE 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12-year-old saw what adults ignored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303520" cy="347472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530352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Nikisha's 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0D0FF"/>
                </a:solidFill>
              </a:rPr>
              <a:t>"My mom kept getting spam calls from unknown people after she listed our old sofa on OLX. She couldn't sleep because her phone kept ringing at night.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0D0FF"/>
                </a:solidFill>
              </a:rPr>
              <a:t>I thought — why can't she just give a different number to strangers? A number that blocks everyone except people she knows?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0D0FF"/>
                </a:solidFill>
              </a:rPr>
              <a:t>I asked Papa to help me build it. We called it ShieldInfo."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90D0"/>
                </a:solidFill>
              </a:rPr>
              <a:t>— Nikisha Verma, Founder &amp; CEO, ShieldInfo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011680" cy="2011680"/>
          </a:xfrm>
          <a:prstGeom prst="ellipse">
            <a:avLst/>
          </a:prstGeom>
          <a:solidFill>
            <a:srgbClr val="1A2E7A"/>
          </a:solidFill>
          <a:ln w="381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0" y="3520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Nikisha Verma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4E8"/>
                </a:solidFill>
              </a:rPr>
              <a:t>Founder &amp; CEO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90D0"/>
                </a:solidFill>
              </a:rPr>
              <a:t>Age 12  |  Delhi, India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4572000"/>
            <a:ext cx="2743200" cy="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5943600" y="4572000"/>
            <a:ext cx="2743200" cy="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943600" y="4572000"/>
            <a:ext cx="274320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Nikisha's mom isn't alone.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4FD8"/>
                </a:solidFill>
              </a:rPr>
              <a:t>900M Indians face this daily.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74520"/>
            <a:ext cx="438912" cy="43891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Online Selling (OLX, Facebook)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134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Share your number publicly and strangers have it forever. Spam, harassment, unsolicited calls — no way to stop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87452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76672" y="187452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Food &amp; Grocery Delivery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3134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Swiggy, Zomato, BigBasket order shares your real number with the delivery person permanently.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49300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49300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New Connections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Meeting new people — at school, events, work — forces you to share your real number or seem rude.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310128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493008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76672" y="349300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Real Solution Exists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931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DND doesn't work. Blocking numbers doesn't work. A second SIM is expensive. Indians have no good option.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68% of Indians received spam calls in 2024 — TRAI Report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ShieldInfo — One masked number.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Unlimited privacy.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AEC0"/>
                </a:solidFill>
              </a:rPr>
              <a:t>Give everyone your ShieldInfo number instead of your real one. Only people you know can reach you. Everyone else gets blocked —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4297680" cy="33832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081528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Unknown callers blocked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10712"/>
            <a:ext cx="4297680" cy="33832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474720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Phonebook contacts always connected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4297680" cy="33832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867912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Temp access for delivery riders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97096"/>
            <a:ext cx="4297680" cy="33832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261104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15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Full call &amp; SMS activity logs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90288"/>
            <a:ext cx="4297680" cy="33832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654296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08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Works with your existing phone &amp; SIM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502920"/>
            <a:ext cx="2743200" cy="4389120"/>
          </a:xfrm>
          <a:prstGeom prst="rect">
            <a:avLst/>
          </a:prstGeom>
          <a:solidFill>
            <a:srgbClr val="1A2E7A"/>
          </a:solidFill>
          <a:ln w="25400">
            <a:solidFill>
              <a:srgbClr val="2A4A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21792"/>
            <a:ext cx="2011680" cy="64008"/>
          </a:xfrm>
          <a:prstGeom prst="rect">
            <a:avLst/>
          </a:prstGeom>
          <a:solidFill>
            <a:srgbClr val="2A4AC0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E8"/>
                </a:solidFill>
              </a:rPr>
              <a:t>+91 95138 86363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D0"/>
                </a:solidFill>
              </a:rPr>
              <a:t>Your ShieldInfo Number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1719072"/>
            <a:ext cx="2468880" cy="45720"/>
          </a:xfrm>
          <a:prstGeom prst="rect">
            <a:avLst/>
          </a:prstGeom>
          <a:solidFill>
            <a:srgbClr val="2A3E9A"/>
          </a:solidFill>
          <a:ln/>
        </p:spPr>
      </p:sp>
      <p:sp>
        <p:nvSpPr>
          <p:cNvPr id="25" name="Shape 23"/>
          <p:cNvSpPr/>
          <p:nvPr/>
        </p:nvSpPr>
        <p:spPr>
          <a:xfrm>
            <a:off x="5897880" y="1828800"/>
            <a:ext cx="2468880" cy="566928"/>
          </a:xfrm>
          <a:prstGeom prst="rect">
            <a:avLst/>
          </a:prstGeom>
          <a:solidFill>
            <a:srgbClr val="0A3A20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98765 XXXXX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215798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2130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ALLOWED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2487168"/>
            <a:ext cx="2468880" cy="566928"/>
          </a:xfrm>
          <a:prstGeom prst="rect">
            <a:avLst/>
          </a:prstGeom>
          <a:solidFill>
            <a:srgbClr val="3A0A0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532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99876 XXXXX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8163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BLOCKED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3145536"/>
            <a:ext cx="2468880" cy="566928"/>
          </a:xfrm>
          <a:prstGeom prst="rect">
            <a:avLst/>
          </a:prstGeom>
          <a:solidFill>
            <a:srgbClr val="3A0A0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191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91234 XXXXX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4747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208" y="3447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BLOCKED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97880" y="3803904"/>
            <a:ext cx="2468880" cy="566928"/>
          </a:xfrm>
          <a:prstGeom prst="rect">
            <a:avLst/>
          </a:prstGeom>
          <a:solidFill>
            <a:srgbClr val="3A2A00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849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80000 XXXXX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13308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236208" y="4105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TEMP OK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Simple enough for a 12-year-old to explain.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566928" cy="566928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2029968"/>
            <a:ext cx="64008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353312"/>
            <a:ext cx="7589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353312"/>
            <a:ext cx="64008" cy="105156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4630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Get Your ShieldInfo Number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562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Sign up and receive a virtual Indian mobile number instantly. Share this with strangers, online listings, delivery apps — anywhere you don't fully trust.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566928" cy="566928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" y="3218688"/>
            <a:ext cx="64008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2542032"/>
            <a:ext cx="7589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2542032"/>
            <a:ext cx="64008" cy="105156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6517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Someone Calls Your Shield Number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4495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a call arrives, ShieldInfo checks in real-time if the caller is in your personal phonebook whitelist. Takes under 100ms.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66928" cy="566928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3730752"/>
            <a:ext cx="7589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43000" y="3730752"/>
            <a:ext cx="64008" cy="105156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8404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Allow or Block — Instantly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Phonebook contacts ring your real phone. Unknown callers hear 'number not reachable' and are silently blocked. You see everything in the app.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India's privacy problem is a massive market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1536192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27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Smartphone users in India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World's 2nd largest 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17320"/>
            <a:ext cx="64008" cy="15361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527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₹4,200Cr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73168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Estimated TAM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Privacy &amp; security apps segment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64008" cy="15361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186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Indians receive spam calls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224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 2024 — 612M people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108960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108960"/>
            <a:ext cx="64008" cy="1536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2186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₹199/mo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773168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Target price point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4224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Less than a movie ticket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WORKING POC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in weeks. Live. Tested.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4E8"/>
                </a:solidFill>
              </a:rPr>
              <a:t>Built with AI-assisted development (Claude)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1907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Live call blocking — unknown callers rejected in real-time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86584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69464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Call forwarding — phonebook contacts connect to real number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41985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346704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Backend live on Railway (sheildinfo-production.up.railway.app)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27024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Database operational on Supabase (PostgreSQL)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536192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719072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645920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Exotel telecom API integrated — webhook call routing working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386584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569464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496312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Flutter mobile app — Login, OTP, Dashboard, Phonebook, Logs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236976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41985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346704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Firebase OTP authentication — real SMS verification working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4087368"/>
            <a:ext cx="4114800" cy="713232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4270248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4197096"/>
            <a:ext cx="3438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SMS forwarding — pending DLT KYC registration (in progress)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Recurring subscription — affordable for every Indian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32588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Trial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masked number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108960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Basic call blocking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84448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7-day 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32588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87168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Basic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87168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8716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78608" y="2633472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masked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78608" y="3108960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call blocking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78608" y="3584448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30-day logs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78608" y="4059936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40142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SMS forwarding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62856" y="1325880"/>
            <a:ext cx="2011680" cy="3611880"/>
          </a:xfrm>
          <a:prstGeom prst="rect">
            <a:avLst/>
          </a:prstGeom>
          <a:solidFill>
            <a:srgbClr val="3B4FD8"/>
          </a:solidFill>
          <a:ln w="25400">
            <a:solidFill>
              <a:srgbClr val="3B4F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62856" y="1325880"/>
            <a:ext cx="2011680" cy="347472"/>
          </a:xfrm>
          <a:prstGeom prst="rect">
            <a:avLst/>
          </a:prstGeom>
          <a:solidFill>
            <a:srgbClr val="2A1D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62856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POPULAR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54296" y="1719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54296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₹199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654296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/month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45736" y="2980944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29352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2 masked numbers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45736" y="3456432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3410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90-day logs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45736" y="3931920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7" name="Text 35"/>
          <p:cNvSpPr/>
          <p:nvPr/>
        </p:nvSpPr>
        <p:spPr>
          <a:xfrm>
            <a:off x="5001768" y="3886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Temp whitelist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45736" y="4407408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9" name="Text 37"/>
          <p:cNvSpPr/>
          <p:nvPr/>
        </p:nvSpPr>
        <p:spPr>
          <a:xfrm>
            <a:off x="5001768" y="4361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Priority support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9984" y="132588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21424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Family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21424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₹399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82142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12864" y="2633472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5" name="Text 43"/>
          <p:cNvSpPr/>
          <p:nvPr/>
        </p:nvSpPr>
        <p:spPr>
          <a:xfrm>
            <a:off x="7168896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masked numbers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12864" y="3108960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7" name="Text 45"/>
          <p:cNvSpPr/>
          <p:nvPr/>
        </p:nvSpPr>
        <p:spPr>
          <a:xfrm>
            <a:off x="7168896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Family dashboard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12864" y="3584448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9" name="Text 47"/>
          <p:cNvSpPr/>
          <p:nvPr/>
        </p:nvSpPr>
        <p:spPr>
          <a:xfrm>
            <a:off x="7168896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history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4059936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51" name="Text 49"/>
          <p:cNvSpPr/>
          <p:nvPr/>
        </p:nvSpPr>
        <p:spPr>
          <a:xfrm>
            <a:off x="7168896" y="40142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Pro features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A 12-year-old founder with a mission.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0D1B5E"/>
          </a:solidFill>
          <a:ln w="12700">
            <a:solidFill>
              <a:srgbClr val="2A3E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463040"/>
            <a:ext cx="731520" cy="7315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Nikisha Verma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</a:rPr>
              <a:t>Founder &amp; CEO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9443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0D0"/>
                </a:solidFill>
              </a:rPr>
              <a:t>Age 12. Identified the problem when her mother received harassment calls after an OLX listing. Conceived the ShieldInfo idea. Leads product vision and direction.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4114800"/>
            <a:ext cx="2523744" cy="219456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1330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700"/>
                </a:solidFill>
              </a:rPr>
              <a:t>Product Vision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4370832"/>
            <a:ext cx="2523744" cy="219456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3891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700"/>
                </a:solidFill>
              </a:rPr>
              <a:t>User Research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4626864"/>
            <a:ext cx="2523744" cy="219456"/>
          </a:xfrm>
          <a:prstGeom prst="rect">
            <a:avLst/>
          </a:prstGeom>
          <a:solidFill>
            <a:srgbClr val="FFF8CC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6451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700"/>
                </a:solidFill>
              </a:rPr>
              <a:t>Brand Strategy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325880"/>
            <a:ext cx="2743200" cy="352044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Anuj V. Verma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E8"/>
                </a:solidFill>
              </a:rPr>
              <a:t>Co-Founder &amp; CTO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9443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0D0"/>
                </a:solidFill>
              </a:rPr>
              <a:t>Father. Technology executive with 15+ years experience. Supports Nikisha's vision with engineering execution, business development, and investor relations.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4114800"/>
            <a:ext cx="2523744" cy="219456"/>
          </a:xfrm>
          <a:prstGeom prst="rect">
            <a:avLst/>
          </a:prstGeom>
          <a:solidFill>
            <a:srgbClr val="CCF5FF"/>
          </a:solidFill>
          <a:ln w="6350">
            <a:solidFill>
              <a:srgbClr val="00C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41330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4E8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10128" y="4370832"/>
            <a:ext cx="2523744" cy="219456"/>
          </a:xfrm>
          <a:prstGeom prst="rect">
            <a:avLst/>
          </a:prstGeom>
          <a:solidFill>
            <a:srgbClr val="CCF5FF"/>
          </a:solidFill>
          <a:ln w="6350">
            <a:solidFill>
              <a:srgbClr val="00C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43891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4E8"/>
                </a:solidFill>
              </a:rPr>
              <a:t>Business Dev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4626864"/>
            <a:ext cx="2523744" cy="219456"/>
          </a:xfrm>
          <a:prstGeom prst="rect">
            <a:avLst/>
          </a:prstGeom>
          <a:solidFill>
            <a:srgbClr val="CCF5FF"/>
          </a:solidFill>
          <a:ln w="6350">
            <a:solidFill>
              <a:srgbClr val="00C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46451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4E8"/>
                </a:solidFill>
              </a:rPr>
              <a:t>Investor Relations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1325880"/>
            <a:ext cx="2743200" cy="3520440"/>
          </a:xfrm>
          <a:prstGeom prst="rect">
            <a:avLst/>
          </a:prstGeom>
          <a:solidFill>
            <a:srgbClr val="0A2A1A"/>
          </a:solidFill>
          <a:ln w="12700">
            <a:solidFill>
              <a:srgbClr val="2A3E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14630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792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(Anthropic AI)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Development Partner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9443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0D0"/>
                </a:solidFill>
              </a:rPr>
              <a:t>AI-assisted development platform enabling rapid prototyping, code generation, and iteration. The entire working POC was built using Claude in Cowork mode.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6208" y="4114800"/>
            <a:ext cx="2523744" cy="219456"/>
          </a:xfrm>
          <a:prstGeom prst="rect">
            <a:avLst/>
          </a:prstGeom>
          <a:solidFill>
            <a:srgbClr val="1A3A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41330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Code Generation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36208" y="4370832"/>
            <a:ext cx="2523744" cy="219456"/>
          </a:xfrm>
          <a:prstGeom prst="rect">
            <a:avLst/>
          </a:prstGeom>
          <a:solidFill>
            <a:srgbClr val="1A3A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43891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Rapid Prototyping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36208" y="4626864"/>
            <a:ext cx="2523744" cy="219456"/>
          </a:xfrm>
          <a:prstGeom prst="rect">
            <a:avLst/>
          </a:prstGeom>
          <a:solidFill>
            <a:srgbClr val="1A3A2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46451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</a:rPr>
              <a:t>24/7 Dev Support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COMPETITIVE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No one else is doing this for India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53312"/>
            <a:ext cx="246888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16352" y="1353312"/>
            <a:ext cx="1417320" cy="438912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7" name="Text 5"/>
          <p:cNvSpPr/>
          <p:nvPr/>
        </p:nvSpPr>
        <p:spPr>
          <a:xfrm>
            <a:off x="2862072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ShieldInfo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353312"/>
            <a:ext cx="141732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Truecaller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87568" y="1353312"/>
            <a:ext cx="141732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11" name="Text 9"/>
          <p:cNvSpPr/>
          <p:nvPr/>
        </p:nvSpPr>
        <p:spPr>
          <a:xfrm>
            <a:off x="5733288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DND Apps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23176" y="1353312"/>
            <a:ext cx="141732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13" name="Text 11"/>
          <p:cNvSpPr/>
          <p:nvPr/>
        </p:nvSpPr>
        <p:spPr>
          <a:xfrm>
            <a:off x="7168896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2nd SIM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938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Blocks unknown callers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16352" y="1883664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19842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88366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2312" y="198424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5687568" y="188366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98424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7123176" y="188366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19842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286000"/>
            <a:ext cx="246888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3172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Real number stays private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16352" y="2286000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46704" y="238658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2286000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82312" y="238658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7568" y="2286000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38658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123176" y="2286000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53528" y="238658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2688336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3405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Works on existing phone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16352" y="2688336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2788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26883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5687568" y="26883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788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7123176" y="26883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3528" y="278892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3090672"/>
            <a:ext cx="246888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363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Phonebook-based allow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16352" y="3090672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46704" y="319125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Shape 46"/>
          <p:cNvSpPr/>
          <p:nvPr/>
        </p:nvSpPr>
        <p:spPr>
          <a:xfrm>
            <a:off x="4251960" y="3090672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82312" y="31912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Shape 48"/>
          <p:cNvSpPr/>
          <p:nvPr/>
        </p:nvSpPr>
        <p:spPr>
          <a:xfrm>
            <a:off x="5687568" y="3090672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1912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7123176" y="3090672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53528" y="31912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3493008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53872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Temp access feature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16352" y="3493008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46704" y="359359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Shape 56"/>
          <p:cNvSpPr/>
          <p:nvPr/>
        </p:nvSpPr>
        <p:spPr>
          <a:xfrm>
            <a:off x="4251960" y="34930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82312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Shape 58"/>
          <p:cNvSpPr/>
          <p:nvPr/>
        </p:nvSpPr>
        <p:spPr>
          <a:xfrm>
            <a:off x="5687568" y="34930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Shape 60"/>
          <p:cNvSpPr/>
          <p:nvPr/>
        </p:nvSpPr>
        <p:spPr>
          <a:xfrm>
            <a:off x="7123176" y="34930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53528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Shape 62"/>
          <p:cNvSpPr/>
          <p:nvPr/>
        </p:nvSpPr>
        <p:spPr>
          <a:xfrm>
            <a:off x="274320" y="3895344"/>
            <a:ext cx="246888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94106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India pricing (Rs.)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16352" y="3895344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46704" y="39959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8" name="Shape 66"/>
          <p:cNvSpPr/>
          <p:nvPr/>
        </p:nvSpPr>
        <p:spPr>
          <a:xfrm>
            <a:off x="4251960" y="3895344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82312" y="39959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Shape 68"/>
          <p:cNvSpPr/>
          <p:nvPr/>
        </p:nvSpPr>
        <p:spPr>
          <a:xfrm>
            <a:off x="5687568" y="3895344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399592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Shape 70"/>
          <p:cNvSpPr/>
          <p:nvPr/>
        </p:nvSpPr>
        <p:spPr>
          <a:xfrm>
            <a:off x="7123176" y="3895344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53528" y="39959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4" name="Shape 72"/>
          <p:cNvSpPr/>
          <p:nvPr/>
        </p:nvSpPr>
        <p:spPr>
          <a:xfrm>
            <a:off x="274320" y="4297680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3434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hardware needed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816352" y="4297680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46704" y="43982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8" name="Shape 76"/>
          <p:cNvSpPr/>
          <p:nvPr/>
        </p:nvSpPr>
        <p:spPr>
          <a:xfrm>
            <a:off x="4251960" y="429768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82312" y="43982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0" name="Shape 78"/>
          <p:cNvSpPr/>
          <p:nvPr/>
        </p:nvSpPr>
        <p:spPr>
          <a:xfrm>
            <a:off x="5687568" y="429768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17920" y="43982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2" name="Shape 80"/>
          <p:cNvSpPr/>
          <p:nvPr/>
        </p:nvSpPr>
        <p:spPr>
          <a:xfrm>
            <a:off x="7123176" y="429768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53528" y="439826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Shape 8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85" name="Text 8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0"/>
                </a:solidFill>
              </a:rPr>
              <a:t>Green = YES  |  Red = NO  |  Orange = Partial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Path to Rs.10 Crore ARR in 36 months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20700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1207008"/>
            <a:ext cx="64008" cy="749808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252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16824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1 Users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210312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80760" y="2103120"/>
            <a:ext cx="64008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148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75,000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257860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2 Users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299923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2999232"/>
            <a:ext cx="64008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3044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Rs.10Cr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63640" y="34747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3 ARR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3895344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3895344"/>
            <a:ext cx="64008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941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Rs.180/mo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63640" y="43708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ARPU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22" name="Text 1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0"/>
                </a:solidFill>
              </a:rPr>
              <a:t>Assumptions: Rs.149 avg ARPU  |  3% monthly growth  |  15% annual churn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Round — Rs.2 Crore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4E8"/>
                </a:solidFill>
              </a:rPr>
              <a:t>Backing Nikisha means backing the next generation of Indian tech founders.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4069080" cy="141732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883664"/>
            <a:ext cx="438912" cy="43891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5E"/>
                </a:solidFill>
              </a:rPr>
              <a:t>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83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E8"/>
                </a:solidFill>
              </a:rPr>
              <a:t>Rs.70L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2414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&amp;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Full-time dev team, app store launch, security audit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719072"/>
            <a:ext cx="4069080" cy="141732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883664"/>
            <a:ext cx="438912" cy="43891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5E"/>
                </a:solidFill>
              </a:rPr>
              <a:t>30%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883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4FD8"/>
                </a:solidFill>
              </a:rPr>
              <a:t>Rs.60L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73752" y="2414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 &amp; Growth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Digital ads, campus ambassador program, influencer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4069080" cy="141732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56616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5E"/>
                </a:solidFill>
              </a:rPr>
              <a:t>20%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Rs.40L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 &amp; Compliance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407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Exotel ExoPhones, DLT registration, TRAI compliance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401568"/>
            <a:ext cx="4069080" cy="141732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356616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5E"/>
                </a:solidFill>
              </a:rPr>
              <a:t>15%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Rs.30L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73752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Working Capital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4407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Infrastructure, legal, hiring, Nikisha's education fund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365760"/>
            <a:ext cx="914400" cy="914400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"If a 12-year-old can see the problem,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hasn't anyone solved it yet?"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700"/>
                </a:solidFill>
              </a:rPr>
              <a:t>— Nikisha Verma, Founder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015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4E8"/>
                </a:solidFill>
              </a:rPr>
              <a:t>Let's build India's privacy layer together.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Nikisha Verma (Founder)  |  Anuj V. Verma (CTO)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159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averma@payremit.com  |  shieldinfo.in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ShieldInfo — Investor Pitch</dc:title>
  <dc:subject>PptxGenJS Presentation</dc:subject>
  <dc:creator>PptxGenJS</dc:creator>
  <cp:lastModifiedBy>PptxGenJS</cp:lastModifiedBy>
  <cp:revision>1</cp:revision>
  <dcterms:created xsi:type="dcterms:W3CDTF">2026-05-17T09:28:36Z</dcterms:created>
  <dcterms:modified xsi:type="dcterms:W3CDTF">2026-05-17T09:28:36Z</dcterms:modified>
</cp:coreProperties>
</file>